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4F81B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A0B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SRO TRANSFORMATION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Tax — Value Stream Map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0B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Replication Pack for Copilot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611880"/>
            <a:ext cx="10058400" cy="27432"/>
          </a:xfrm>
          <a:prstGeom prst="rect">
            <a:avLst/>
          </a:prstGeom>
          <a:solidFill>
            <a:srgbClr val="4F81B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794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95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pack contains: Visual screenshots of all UI states · Full specification document · Raw data (JSON) · Complete HTML source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4754880"/>
            <a:ext cx="2560320" cy="1097280"/>
          </a:xfrm>
          <a:prstGeom prst="rect">
            <a:avLst/>
          </a:prstGeom>
          <a:solidFill>
            <a:srgbClr val="2D5A8E"/>
          </a:solidFill>
          <a:ln w="12700">
            <a:solidFill>
              <a:srgbClr val="4F81B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4754880"/>
            <a:ext cx="2560320" cy="10972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BDDB"/>
                </a:solidFill>
              </a:rPr>
              <a:t>01
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Screenshots
</a:t>
            </a:r>
            <a:endParaRPr lang="en-US" sz="8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0BDDB"/>
                </a:solidFill>
              </a:rPr>
              <a:t>10 UI states across all interactions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566160" y="4754880"/>
            <a:ext cx="2560320" cy="1097280"/>
          </a:xfrm>
          <a:prstGeom prst="rect">
            <a:avLst/>
          </a:prstGeom>
          <a:solidFill>
            <a:srgbClr val="2D5A8E"/>
          </a:solidFill>
          <a:ln w="12700">
            <a:solidFill>
              <a:srgbClr val="4F81B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66160" y="4754880"/>
            <a:ext cx="2560320" cy="10972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BDDB"/>
                </a:solidFill>
              </a:rPr>
              <a:t>02
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Spec Doc
</a:t>
            </a:r>
            <a:endParaRPr lang="en-US" sz="8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0BDDB"/>
                </a:solidFill>
              </a:rPr>
              <a:t>Architecture, CSS tokens, data model, interactions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400800" y="4754880"/>
            <a:ext cx="2560320" cy="1097280"/>
          </a:xfrm>
          <a:prstGeom prst="rect">
            <a:avLst/>
          </a:prstGeom>
          <a:solidFill>
            <a:srgbClr val="2D5A8E"/>
          </a:solidFill>
          <a:ln w="12700">
            <a:solidFill>
              <a:srgbClr val="4F81B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4754880"/>
            <a:ext cx="2560320" cy="10972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BDDB"/>
                </a:solidFill>
              </a:rPr>
              <a:t>03
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(JSON)
</a:t>
            </a:r>
            <a:endParaRPr lang="en-US" sz="8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0BDDB"/>
                </a:solidFill>
              </a:rPr>
              <a:t>Complete DATA array — all 49 L3 capabilities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235440" y="4754880"/>
            <a:ext cx="2560320" cy="1097280"/>
          </a:xfrm>
          <a:prstGeom prst="rect">
            <a:avLst/>
          </a:prstGeom>
          <a:solidFill>
            <a:srgbClr val="2D5A8E"/>
          </a:solidFill>
          <a:ln w="12700">
            <a:solidFill>
              <a:srgbClr val="4F81B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35440" y="4754880"/>
            <a:ext cx="2560320" cy="10972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BDDB"/>
                </a:solidFill>
              </a:rPr>
              <a:t>04
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HTML Source
</a:t>
            </a:r>
            <a:endParaRPr lang="en-US" sz="8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0BDDB"/>
                </a:solidFill>
              </a:rPr>
              <a:t>Complete self-contained HTML file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D5A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4F81B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2743200" cy="164592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50800" dir="16200000">
              <a:srgbClr val="FFFFFF">
                <a:alpha val="8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&amp; Default State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6400800" cy="27432"/>
          </a:xfrm>
          <a:prstGeom prst="rect">
            <a:avLst/>
          </a:prstGeom>
          <a:solidFill>
            <a:srgbClr val="4F81B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474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B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component appears on load and how stage selection works.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Default State (on load)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686800" y="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B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stage selected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1170432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777240"/>
            <a:ext cx="11704320" cy="5303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172200"/>
            <a:ext cx="12161520" cy="685800"/>
          </a:xfrm>
          <a:prstGeom prst="rect">
            <a:avLst/>
          </a:prstGeom>
          <a:solidFill>
            <a:srgbClr val="E8EEF3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6172200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 Six chevrons + Common &amp; Supporting bar. Empty state with prompt. No panel visible.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VS1 Selected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686800" y="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B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Land &amp; Ownership Records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1170432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777240"/>
            <a:ext cx="11704320" cy="5303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172200"/>
            <a:ext cx="12161520" cy="685800"/>
          </a:xfrm>
          <a:prstGeom prst="rect">
            <a:avLst/>
          </a:prstGeom>
          <a:solidFill>
            <a:srgbClr val="E8EEF3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6172200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 First chevron highlighted blue. Invokes Common bar appears. L1 block auto-opens with first L2 expanded.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D5A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4F81B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2743200" cy="164592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50800" dir="16200000">
              <a:srgbClr val="FFFFFF">
                <a:alpha val="8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Stage Panels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6400800" cy="27432"/>
          </a:xfrm>
          <a:prstGeom prst="rect">
            <a:avLst/>
          </a:prstGeom>
          <a:solidFill>
            <a:srgbClr val="4F81B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474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B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of the six value stages showing their Land Tax L3 capabilities.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VS2 Selected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686800" y="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B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Determine How Land Is Taxed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1170432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777240"/>
            <a:ext cx="11704320" cy="5303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172200"/>
            <a:ext cx="12161520" cy="685800"/>
          </a:xfrm>
          <a:prstGeom prst="rect">
            <a:avLst/>
          </a:prstGeom>
          <a:solidFill>
            <a:srgbClr val="E8EEF3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6172200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 12 L3 capabilities. No Invokes Common bar — all capabilities are Land Tax specific.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VS3 Selected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686800" y="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B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 &amp; Issue Land Tax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1170432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777240"/>
            <a:ext cx="11704320" cy="5303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172200"/>
            <a:ext cx="12161520" cy="685800"/>
          </a:xfrm>
          <a:prstGeom prst="rect">
            <a:avLst/>
          </a:prstGeom>
          <a:solidFill>
            <a:srgbClr val="E8EEF3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6172200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 13 L3 capabilities. Invokes Assessment Management, Customer Communication Management, Valuation Management.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— VS4 Selected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686800" y="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B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Payments &amp; Adjustments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1170432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777240"/>
            <a:ext cx="11704320" cy="5303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172200"/>
            <a:ext cx="12161520" cy="685800"/>
          </a:xfrm>
          <a:prstGeom prst="rect">
            <a:avLst/>
          </a:prstGeom>
          <a:solidFill>
            <a:srgbClr val="E8EEF3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6172200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 6 L3 capabilities. Invokes Financial Obligations Management and Payment &amp; Financial Management.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— VS5 Selected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686800" y="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B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Issues &amp; Enforce Compliance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1170432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777240"/>
            <a:ext cx="11704320" cy="5303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172200"/>
            <a:ext cx="12161520" cy="685800"/>
          </a:xfrm>
          <a:prstGeom prst="rect">
            <a:avLst/>
          </a:prstGeom>
          <a:solidFill>
            <a:srgbClr val="E8EEF3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6172200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 9 L3 capabilities. Invokes Case &amp; Compliance Management.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— VS6 Selected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686800" y="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B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Certificates &amp; Assurance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1170432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777240"/>
            <a:ext cx="11704320" cy="5303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172200"/>
            <a:ext cx="12161520" cy="685800"/>
          </a:xfrm>
          <a:prstGeom prst="rect">
            <a:avLst/>
          </a:prstGeom>
          <a:solidFill>
            <a:srgbClr val="E8EEF3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6172200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 2 L3 capabilities. Invokes Assessment Management and Customer Communication Management.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D5A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4F81B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2743200" cy="164592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50800" dir="16200000">
              <a:srgbClr val="FFFFFF">
                <a:alpha val="8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Expand / Collapse Interaction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6400800" cy="27432"/>
          </a:xfrm>
          <a:prstGeom prst="rect">
            <a:avLst/>
          </a:prstGeom>
          <a:solidFill>
            <a:srgbClr val="4F81B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474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B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blocks are collapsed by default (except the first which auto-opens). Click header to toggle.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— Multiple L2s Expanded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686800" y="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B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VS3 with second L2 also open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1170432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777240"/>
            <a:ext cx="11704320" cy="5303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172200"/>
            <a:ext cx="12161520" cy="685800"/>
          </a:xfrm>
          <a:prstGeom prst="rect">
            <a:avLst/>
          </a:prstGeom>
          <a:solidFill>
            <a:srgbClr val="E8EEF3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6172200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 Each L2 header click toggles open/close. + becomes − when open. L3 grid shows Description, Synonyms, Policy, Related Process.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D5A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4F81B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2743200" cy="164592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50800" dir="16200000">
              <a:srgbClr val="FFFFFF">
                <a:alpha val="8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&amp; Supporting Capabilities Panel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6400800" cy="27432"/>
          </a:xfrm>
          <a:prstGeom prst="rect">
            <a:avLst/>
          </a:prstGeom>
          <a:solidFill>
            <a:srgbClr val="4F81B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474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B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Selecting the amber bar reveals platform capabilities and Support &amp; Govern.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— Common &amp; Supporting (collapsed)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686800" y="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B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 block closed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1170432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777240"/>
            <a:ext cx="11704320" cy="5303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172200"/>
            <a:ext cx="12161520" cy="685800"/>
          </a:xfrm>
          <a:prstGeom prst="rect">
            <a:avLst/>
          </a:prstGeom>
          <a:solidFill>
            <a:srgbClr val="E8EEF3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6172200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 Section dividers separate Platform Common Capabilities (green headers) from Support &amp; Govern (purple headers). Definition link at top.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— Common &amp; Supporting (definition expanded)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686800" y="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B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 block open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1170432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777240"/>
            <a:ext cx="11704320" cy="5303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172200"/>
            <a:ext cx="12161520" cy="685800"/>
          </a:xfrm>
          <a:prstGeom prst="rect">
            <a:avLst/>
          </a:prstGeom>
          <a:solidFill>
            <a:srgbClr val="E8EEF3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6172200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 Expandable definition block shows brief definition, quick test, four criteria, and examples. Arrow rotates on open.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D5A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4F81B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2743200" cy="164592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50800" dir="16200000">
              <a:srgbClr val="FFFFFF">
                <a:alpha val="8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Maturity Badges &amp; Process CTAs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6400800" cy="27432"/>
          </a:xfrm>
          <a:prstGeom prst="rect">
            <a:avLst/>
          </a:prstGeom>
          <a:solidFill>
            <a:srgbClr val="4F81B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474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B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L3 shows a right-justified maturity badge in its name bar and a Related Process CTA pill.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— L3 Detail View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686800" y="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B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bar + grid columns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1170432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777240"/>
            <a:ext cx="11704320" cy="5303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172200"/>
            <a:ext cx="12161520" cy="685800"/>
          </a:xfrm>
          <a:prstGeom prst="rect">
            <a:avLst/>
          </a:prstGeom>
          <a:solidFill>
            <a:srgbClr val="E8EEF3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6172200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 Maturity badge (purple=Planned) right-justified in L3 name bar. Process CTA pill (green, →) in Related Process column. TBA = muted grey, non-clickable.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4F81B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Reproduction Rules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0058400" cy="27432"/>
          </a:xfrm>
          <a:prstGeom prst="rect">
            <a:avLst/>
          </a:prstGeom>
          <a:solidFill>
            <a:srgbClr val="4F81BD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2743200" cy="420624"/>
          </a:xfrm>
          <a:prstGeom prst="rect">
            <a:avLst/>
          </a:prstGeom>
          <a:solidFill>
            <a:srgbClr val="2D5A8E"/>
          </a:solidFill>
          <a:ln w="6350">
            <a:solidFill>
              <a:srgbClr val="4F81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0B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371600"/>
            <a:ext cx="8321040" cy="420624"/>
          </a:xfrm>
          <a:prstGeom prst="rect">
            <a:avLst/>
          </a:prstGeom>
          <a:solidFill>
            <a:srgbClr val="1E3A5C"/>
          </a:solidFill>
          <a:ln w="6350">
            <a:solidFill>
              <a:srgbClr val="2D4E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137160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self-contained .html file — no external CSS or JS files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892808"/>
            <a:ext cx="2743200" cy="420624"/>
          </a:xfrm>
          <a:prstGeom prst="rect">
            <a:avLst/>
          </a:prstGeom>
          <a:solidFill>
            <a:srgbClr val="2D5A8E"/>
          </a:solidFill>
          <a:ln w="6350">
            <a:solidFill>
              <a:srgbClr val="4F81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89280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0B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0" y="1892808"/>
            <a:ext cx="8321040" cy="420624"/>
          </a:xfrm>
          <a:prstGeom prst="rect">
            <a:avLst/>
          </a:prstGeom>
          <a:solidFill>
            <a:srgbClr val="1E3A5C"/>
          </a:solidFill>
          <a:ln w="6350">
            <a:solidFill>
              <a:srgbClr val="2D4E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189280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 (400/500/600/700) + Roboto Mono (400/500) from Google Fonts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414016"/>
            <a:ext cx="2743200" cy="420624"/>
          </a:xfrm>
          <a:prstGeom prst="rect">
            <a:avLst/>
          </a:prstGeom>
          <a:solidFill>
            <a:srgbClr val="2D5A8E"/>
          </a:solidFill>
          <a:ln w="6350">
            <a:solidFill>
              <a:srgbClr val="4F81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41401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0B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0" y="2414016"/>
            <a:ext cx="8321040" cy="420624"/>
          </a:xfrm>
          <a:prstGeom prst="rect">
            <a:avLst/>
          </a:prstGeom>
          <a:solidFill>
            <a:srgbClr val="1E3A5C"/>
          </a:solidFill>
          <a:ln w="6350">
            <a:solidFill>
              <a:srgbClr val="2D4E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0" y="2414016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Vanilla JS only — no React, Vue, Angular or any framework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2935224"/>
            <a:ext cx="2743200" cy="420624"/>
          </a:xfrm>
          <a:prstGeom prst="rect">
            <a:avLst/>
          </a:prstGeom>
          <a:solidFill>
            <a:srgbClr val="2D5A8E"/>
          </a:solidFill>
          <a:ln w="6350">
            <a:solidFill>
              <a:srgbClr val="4F81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93522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0B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74720" y="2935224"/>
            <a:ext cx="8321040" cy="420624"/>
          </a:xfrm>
          <a:prstGeom prst="rect">
            <a:avLst/>
          </a:prstGeom>
          <a:solidFill>
            <a:srgbClr val="1E3A5C"/>
          </a:solidFill>
          <a:ln w="6350">
            <a:solidFill>
              <a:srgbClr val="2D4E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0" y="2935224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array only — 6 stages, 49 L3 capabilities with process names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3456432"/>
            <a:ext cx="2743200" cy="420624"/>
          </a:xfrm>
          <a:prstGeom prst="rect">
            <a:avLst/>
          </a:prstGeom>
          <a:solidFill>
            <a:srgbClr val="2D5A8E"/>
          </a:solidFill>
          <a:ln w="6350">
            <a:solidFill>
              <a:srgbClr val="4F81B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45643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0B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Chevron geometry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74720" y="3456432"/>
            <a:ext cx="8321040" cy="420624"/>
          </a:xfrm>
          <a:prstGeom prst="rect">
            <a:avLst/>
          </a:prstGeom>
          <a:solidFill>
            <a:srgbClr val="1E3A5C"/>
          </a:solidFill>
          <a:ln w="6350">
            <a:solidFill>
              <a:srgbClr val="2D4E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345643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clip-path polygon — left notch 26px, right point 26px, white 3px border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" y="3977640"/>
            <a:ext cx="2743200" cy="420624"/>
          </a:xfrm>
          <a:prstGeom prst="rect">
            <a:avLst/>
          </a:prstGeom>
          <a:solidFill>
            <a:srgbClr val="2D5A8E"/>
          </a:solidFill>
          <a:ln w="6350">
            <a:solidFill>
              <a:srgbClr val="4F81B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97764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0B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74720" y="3977640"/>
            <a:ext cx="8321040" cy="420624"/>
          </a:xfrm>
          <a:prstGeom prst="rect">
            <a:avLst/>
          </a:prstGeom>
          <a:solidFill>
            <a:srgbClr val="1E3A5C"/>
          </a:solidFill>
          <a:ln w="6350">
            <a:solidFill>
              <a:srgbClr val="2D4E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66160" y="397764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selectStage(i) — deselects all, selects clicked, highlights Common bar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1520" y="4498848"/>
            <a:ext cx="2743200" cy="420624"/>
          </a:xfrm>
          <a:prstGeom prst="rect">
            <a:avLst/>
          </a:prstGeom>
          <a:solidFill>
            <a:srgbClr val="2D5A8E"/>
          </a:solidFill>
          <a:ln w="6350">
            <a:solidFill>
              <a:srgbClr val="4F81B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449884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0B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Auto-open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474720" y="4498848"/>
            <a:ext cx="8321040" cy="420624"/>
          </a:xfrm>
          <a:prstGeom prst="rect">
            <a:avLst/>
          </a:prstGeom>
          <a:solidFill>
            <a:srgbClr val="1E3A5C"/>
          </a:solidFill>
          <a:ln w="6350">
            <a:solidFill>
              <a:srgbClr val="2D4E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66160" y="449884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L1 and first L2 open automatically on stage selection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31520" y="5020056"/>
            <a:ext cx="2743200" cy="420624"/>
          </a:xfrm>
          <a:prstGeom prst="rect">
            <a:avLst/>
          </a:prstGeom>
          <a:solidFill>
            <a:srgbClr val="2D5A8E"/>
          </a:solidFill>
          <a:ln w="6350">
            <a:solidFill>
              <a:srgbClr val="4F81B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502005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0B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Maturity badge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474720" y="5020056"/>
            <a:ext cx="8321040" cy="420624"/>
          </a:xfrm>
          <a:prstGeom prst="rect">
            <a:avLst/>
          </a:prstGeom>
          <a:solidFill>
            <a:srgbClr val="1E3A5C"/>
          </a:solidFill>
          <a:ln w="6350">
            <a:solidFill>
              <a:srgbClr val="2D4E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66160" y="5020056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Right-justified in l3-name-bar flex row — 5 colours, JetBrains Mono 10px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31520" y="5541264"/>
            <a:ext cx="2743200" cy="420624"/>
          </a:xfrm>
          <a:prstGeom prst="rect">
            <a:avLst/>
          </a:prstGeom>
          <a:solidFill>
            <a:srgbClr val="2D5A8E"/>
          </a:solidFill>
          <a:ln w="6350">
            <a:solidFill>
              <a:srgbClr val="4F81B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" y="554126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0B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CTA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474720" y="5541264"/>
            <a:ext cx="8321040" cy="420624"/>
          </a:xfrm>
          <a:prstGeom prst="rect">
            <a:avLst/>
          </a:prstGeom>
          <a:solidFill>
            <a:srgbClr val="1E3A5C"/>
          </a:solidFill>
          <a:ln w="6350">
            <a:solidFill>
              <a:srgbClr val="2D4E6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66160" y="5541264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pill with → arrow, href='#' — muted grey italic when TBA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31520" y="6062472"/>
            <a:ext cx="2743200" cy="420624"/>
          </a:xfrm>
          <a:prstGeom prst="rect">
            <a:avLst/>
          </a:prstGeom>
          <a:solidFill>
            <a:srgbClr val="2D5A8E"/>
          </a:solidFill>
          <a:ln w="6350">
            <a:solidFill>
              <a:srgbClr val="4F81B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606247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0B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panel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474720" y="6062472"/>
            <a:ext cx="8321040" cy="420624"/>
          </a:xfrm>
          <a:prstGeom prst="rect">
            <a:avLst/>
          </a:prstGeom>
          <a:solidFill>
            <a:srgbClr val="1E3A5C"/>
          </a:solidFill>
          <a:ln w="6350">
            <a:solidFill>
              <a:srgbClr val="2D4E6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66160" y="606247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selectCommon() — toggles is-selected on common bar, deselects stage chevrons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BCAFE0F89FD79438E0FFF25F3C72D48" ma:contentTypeVersion="17" ma:contentTypeDescription="Create a new document." ma:contentTypeScope="" ma:versionID="9544e52c42b665bc7bb39cd39e556fd9">
  <xsd:schema xmlns:xsd="http://www.w3.org/2001/XMLSchema" xmlns:xs="http://www.w3.org/2001/XMLSchema" xmlns:p="http://schemas.microsoft.com/office/2006/metadata/properties" xmlns:ns1="http://schemas.microsoft.com/sharepoint/v3" xmlns:ns2="0d0a5a2f-163b-438e-8a4e-a3028c65261e" xmlns:ns3="6610156a-8adf-43bd-89c4-f820cd5a6c22" targetNamespace="http://schemas.microsoft.com/office/2006/metadata/properties" ma:root="true" ma:fieldsID="3955d0cea41bb4759283ba0fb77bceaa" ns1:_="" ns2:_="" ns3:_="">
    <xsd:import namespace="http://schemas.microsoft.com/sharepoint/v3"/>
    <xsd:import namespace="0d0a5a2f-163b-438e-8a4e-a3028c65261e"/>
    <xsd:import namespace="6610156a-8adf-43bd-89c4-f820cd5a6c2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1:_ip_UnifiedCompliancePolicyProperties" minOccurs="0"/>
                <xsd:element ref="ns1:_ip_UnifiedCompliancePolicyUIAction" minOccurs="0"/>
                <xsd:element ref="ns2:Status"/>
                <xsd:element ref="ns2:MediaServiceLocation" minOccurs="0"/>
                <xsd:element ref="ns2:Date_x0020_Submitted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d0a5a2f-163b-438e-8a4e-a3028c6526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2e858e8b-94e2-4eb9-882a-772e80fac86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Status" ma:index="22" ma:displayName="Status" ma:default="0" ma:description="Status/Percentage completed" ma:internalName="Status">
      <xsd:simpleType>
        <xsd:restriction base="dms:Text">
          <xsd:maxLength value="255"/>
        </xsd:restriction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Date_x0020_Submitted" ma:index="24" ma:displayName="Date Submitted" ma:format="DateTime" ma:internalName="Date_x0020_Submitted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10156a-8adf-43bd-89c4-f820cd5a6c22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fdc4613d-b5b1-458a-8d11-136fc9889465}" ma:internalName="TaxCatchAll" ma:showField="CatchAllData" ma:web="6610156a-8adf-43bd-89c4-f820cd5a6c2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Date_x0020_Submitted xmlns="0d0a5a2f-163b-438e-8a4e-a3028c65261e"/>
    <lcf76f155ced4ddcb4097134ff3c332f xmlns="0d0a5a2f-163b-438e-8a4e-a3028c65261e">
      <Terms xmlns="http://schemas.microsoft.com/office/infopath/2007/PartnerControls"/>
    </lcf76f155ced4ddcb4097134ff3c332f>
    <_ip_UnifiedCompliancePolicyProperties xmlns="http://schemas.microsoft.com/sharepoint/v3" xsi:nil="true"/>
    <TaxCatchAll xmlns="6610156a-8adf-43bd-89c4-f820cd5a6c22" xsi:nil="true"/>
    <Status xmlns="0d0a5a2f-163b-438e-8a4e-a3028c65261e">0</Status>
  </documentManagement>
</p:properties>
</file>

<file path=customXml/itemProps1.xml><?xml version="1.0" encoding="utf-8"?>
<ds:datastoreItem xmlns:ds="http://schemas.openxmlformats.org/officeDocument/2006/customXml" ds:itemID="{B5DC7280-1D4C-4BE7-968D-E64DAA9E41AF}"/>
</file>

<file path=customXml/itemProps2.xml><?xml version="1.0" encoding="utf-8"?>
<ds:datastoreItem xmlns:ds="http://schemas.openxmlformats.org/officeDocument/2006/customXml" ds:itemID="{3E061E79-7D47-4578-8F9D-EF15B3EA2381}"/>
</file>

<file path=customXml/itemProps3.xml><?xml version="1.0" encoding="utf-8"?>
<ds:datastoreItem xmlns:ds="http://schemas.openxmlformats.org/officeDocument/2006/customXml" ds:itemID="{E1F25B9A-CBAB-4579-A2E2-C723EE6AA8AE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Land Tax Value Stream Map — Replication Pack</dc:title>
  <dc:subject>PptxGenJS Presentation</dc:subject>
  <dc:creator>PptxGenJS</dc:creator>
  <cp:lastModifiedBy>PptxGenJS</cp:lastModifiedBy>
  <cp:revision>1</cp:revision>
  <dcterms:created xsi:type="dcterms:W3CDTF">2026-03-31T03:27:40Z</dcterms:created>
  <dcterms:modified xsi:type="dcterms:W3CDTF">2026-03-31T03:27:40Z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0x0101005BCAFE0F89FD79438E0FFF25F3C72D48</vt:lpwstr>
  </property>
</Properties>
</file>